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257" r:id="rId3"/>
    <p:sldId id="261" r:id="rId4"/>
    <p:sldId id="260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dh Habash" userId="89698065-3cae-449f-b1cf-d01755508461" providerId="ADAL" clId="{27176248-733C-48E5-BA54-9E0D1E4B7BAB}"/>
    <pc:docChg chg="custSel addSld delSld modSld">
      <pc:chgData name="Riadh Habash" userId="89698065-3cae-449f-b1cf-d01755508461" providerId="ADAL" clId="{27176248-733C-48E5-BA54-9E0D1E4B7BAB}" dt="2026-01-22T02:08:53.623" v="43" actId="20577"/>
      <pc:docMkLst>
        <pc:docMk/>
      </pc:docMkLst>
      <pc:sldChg chg="modSp add del mod">
        <pc:chgData name="Riadh Habash" userId="89698065-3cae-449f-b1cf-d01755508461" providerId="ADAL" clId="{27176248-733C-48E5-BA54-9E0D1E4B7BAB}" dt="2026-01-22T02:08:53.623" v="43" actId="20577"/>
        <pc:sldMkLst>
          <pc:docMk/>
          <pc:sldMk cId="1426975525" sldId="360"/>
        </pc:sldMkLst>
        <pc:spChg chg="mod">
          <ac:chgData name="Riadh Habash" userId="89698065-3cae-449f-b1cf-d01755508461" providerId="ADAL" clId="{27176248-733C-48E5-BA54-9E0D1E4B7BAB}" dt="2026-01-19T13:55:06.591" v="38" actId="6549"/>
          <ac:spMkLst>
            <pc:docMk/>
            <pc:sldMk cId="1426975525" sldId="360"/>
            <ac:spMk id="2" creationId="{E439A8C1-96B9-BE8D-638A-AD4D11911D7D}"/>
          </ac:spMkLst>
        </pc:spChg>
        <pc:spChg chg="mod">
          <ac:chgData name="Riadh Habash" userId="89698065-3cae-449f-b1cf-d01755508461" providerId="ADAL" clId="{27176248-733C-48E5-BA54-9E0D1E4B7BAB}" dt="2026-01-22T02:08:53.623" v="43" actId="20577"/>
          <ac:spMkLst>
            <pc:docMk/>
            <pc:sldMk cId="1426975525" sldId="360"/>
            <ac:spMk id="3" creationId="{C02028E5-163A-AB42-0ADA-286F594688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5C81-B486-4874-D159-DCCD86A99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D22C1-EA9B-FA39-303E-11B4F456E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4D09F-DEE7-47D6-F36F-EE382653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1C10-2810-2F15-243C-4851B9C4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8D4FF-11F4-5964-2605-FFA77F7A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9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6ADF-461B-217B-E89F-CC264F13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437AB-8F10-8428-DABE-E60FA38AC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BF890-58CB-F227-ADC6-5C2B5B12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306EF-6A33-9828-43BD-E3C528C3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F131B-AAC9-BFE3-0525-D200F3F7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8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576F-7BEE-ED6E-5BA5-CA3D6DF7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450AE-DE48-E9A5-F600-5DB737D1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7021-269C-4023-E812-6C0C416E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CCA9B-8956-9171-907A-FF8BF292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666F-6C3D-8451-0EED-5E63D28C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6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20C-9697-F10D-E639-EEACA1F8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09D48-A8A1-7C3B-E9A7-198B498B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F2336-890E-74B1-2CE2-472B475A6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BCF-BE61-5784-4869-BAE53C2B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D7A1F-D94D-AD61-2094-1CB03DC3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961FF-8AC4-BABC-152B-A8ACC440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B34-EA10-5491-8EF7-64B781D8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B4659-6278-0AD7-A312-9E224680C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C0A7D-A9F0-10D3-48FE-3D710D000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8E65D-6D9B-B0CE-C1A2-CD08AF0D8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9D22C-39CF-21AB-764E-64CA73637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DD4A9-DA39-0909-55D4-78EA6424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994AA-9BE4-2F32-86C0-2B2CE760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D644C-3C66-A4B1-5C67-F77C2D74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5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9107-7B26-4C4B-C4E4-F55E1C60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8CF16-5750-B6F3-1163-38252791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21CB7-15EF-6DD8-197D-981E8A54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74CB0-E54C-828E-8488-3976215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7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D90A6-B80B-A373-2FC4-A9A4F499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E7F60-2A55-F407-C6F4-23E2BAD2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FA0B3-BC6E-897D-E471-FD401BD0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7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3B64-1B35-0F16-7FEC-DFA506A8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321E-89B0-5681-A439-1D07E3EE1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BB50E-C4CE-3728-8D5F-46373594F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2E3BA-DA27-9E80-0C01-D4A3158F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4438B-0643-5E05-DA15-4EB061D4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BC63F-7798-90AB-236A-600073C3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36770-8344-8FBF-DC59-3C0D2C45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3165D-2F12-A8E0-3E2C-EEDD8A8B4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A53A9-4735-5E50-E6B1-BF17CCB37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B0B6A-1EE2-E963-7AA9-52DE62A2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5182E-9FBE-4A33-323E-A0992403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89C47-289B-B82E-9966-FB84865E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3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7144-D9CE-55EF-3631-01A18852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E4A6A-25D3-BDAB-727F-02D0951D6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1C66B-0B44-B039-4D2D-418961A5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F01F9-93C1-0500-93D3-F720752F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CE26-A40D-BFA7-8594-9565BD0D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8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BB2E0-C3F0-8343-7F3F-4DD4B31DA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5107A-706F-4E0C-013C-51BEEBFA3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3C49-B788-9C3A-A979-FD0F37B4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53F4-D171-3CF1-188A-CF3D5911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FCBA5-A451-FB08-334B-22C0DF17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3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A2A1B-2D46-AFF5-68B8-C12B7436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BC9E5-41DE-DF1E-1BA0-F8231C988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80F58-9B7C-BB6D-3A2D-72EF3BADA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8EC3E-F114-47FA-8B01-9F264A06647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E048-F701-FF72-9FEC-2FFD25D50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478D0-1BE8-D78B-57DE-CF09BCF0E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73B9B-46C6-455E-B5B3-1308B48D4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9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DB7E-974E-508E-7611-2A76628E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A8C1-96B9-BE8D-638A-AD4D1191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03049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+mn-lt"/>
              </a:rPr>
              <a:t>Research Case 2 (10 marks)</a:t>
            </a:r>
            <a:br>
              <a:rPr lang="en-US" sz="3100" b="1" dirty="0">
                <a:solidFill>
                  <a:srgbClr val="0070C0"/>
                </a:solidFill>
                <a:latin typeface="+mn-lt"/>
              </a:rPr>
            </a:br>
            <a:r>
              <a:rPr lang="en-US" sz="3100" b="1" dirty="0">
                <a:solidFill>
                  <a:schemeClr val="tx1"/>
                </a:solidFill>
                <a:latin typeface="+mn-lt"/>
              </a:rPr>
              <a:t>Ethical Entrepreneurship From Mindset </a:t>
            </a:r>
            <a:r>
              <a:rPr lang="en-US" sz="3100" b="1">
                <a:solidFill>
                  <a:schemeClr val="tx1"/>
                </a:solidFill>
                <a:latin typeface="+mn-lt"/>
              </a:rPr>
              <a:t>to Practice</a:t>
            </a:r>
            <a:br>
              <a:rPr lang="en-US" sz="3200" b="1" dirty="0">
                <a:solidFill>
                  <a:schemeClr val="tx1"/>
                </a:solidFill>
                <a:latin typeface="+mn-lt"/>
              </a:rPr>
            </a:br>
            <a:r>
              <a:rPr kumimoji="0" 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evaluation of this open-ended task is determined by how well the content meets values, usefulness, writing skills, and relevance for its intended audience or purpose (use size </a:t>
            </a:r>
            <a:r>
              <a:rPr kumimoji="0" lang="en-US" sz="20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18; IEEE citation</a:t>
            </a:r>
            <a:r>
              <a:rPr kumimoji="0" 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). </a:t>
            </a:r>
            <a:endParaRPr lang="en-US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028E5-163A-AB42-0ADA-286F594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8678"/>
            <a:ext cx="10058400" cy="4020415"/>
          </a:xfrm>
        </p:spPr>
        <p:txBody>
          <a:bodyPr>
            <a:normAutofit fontScale="85000" lnSpcReduction="10000"/>
          </a:bodyPr>
          <a:lstStyle/>
          <a:p>
            <a:pPr marL="0" marR="0" indent="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1"/>
                </a:solidFill>
                <a:effectLst/>
                <a:ea typeface="PMingLiU" panose="02020500000000000000" pitchFamily="18" charset="-120"/>
              </a:rPr>
              <a:t>Prepare a portfolio of FIVE PowerPoint slides as follows</a:t>
            </a:r>
            <a:r>
              <a:rPr lang="en-US" sz="2400" b="1" dirty="0"/>
              <a:t>:</a:t>
            </a:r>
            <a:endParaRPr lang="en-US" sz="2400" b="1" dirty="0">
              <a:solidFill>
                <a:schemeClr val="tx1"/>
              </a:solidFill>
              <a:effectLst/>
              <a:ea typeface="PMingLiU" panose="02020500000000000000" pitchFamily="18" charset="-120"/>
            </a:endParaRPr>
          </a:p>
          <a:p>
            <a:pPr marL="34290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/>
              <a:t> </a:t>
            </a:r>
            <a:r>
              <a:rPr lang="en-US" sz="2400" b="1" dirty="0"/>
              <a:t>First Slide: </a:t>
            </a:r>
            <a:r>
              <a:rPr lang="en-US" sz="2400" dirty="0"/>
              <a:t>Develop an </a:t>
            </a:r>
            <a:r>
              <a:rPr lang="en-US" sz="2400" b="1" dirty="0"/>
              <a:t>e-Poster</a:t>
            </a:r>
            <a:r>
              <a:rPr lang="en-US" sz="2400" dirty="0"/>
              <a:t> that reflects the entire portfolio (2 marks) </a:t>
            </a: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Investigate the following key areas, each on a slide. Develop an opinion(s) with proper in-text citation using at least two references.</a:t>
            </a:r>
          </a:p>
          <a:p>
            <a:pPr marL="635508" lvl="1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/>
              <a:t>Second Slide: </a:t>
            </a:r>
            <a:r>
              <a:rPr lang="en-US" sz="2400" dirty="0"/>
              <a:t>Value tension between profit and social responsibility (2 marks).</a:t>
            </a:r>
          </a:p>
          <a:p>
            <a:pPr marL="635508" lvl="1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/>
              <a:t>Third Slide: </a:t>
            </a:r>
            <a:r>
              <a:rPr lang="en-US" sz="2400" dirty="0"/>
              <a:t>Unique ethical challenges for startups (2 marks).</a:t>
            </a:r>
          </a:p>
          <a:p>
            <a:pPr marL="635508" lvl="1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/>
              <a:t>Fourth Slide: </a:t>
            </a:r>
            <a:r>
              <a:rPr lang="en-US" sz="2600" dirty="0"/>
              <a:t>The ethics of "fake it till you make it" (2 marks).</a:t>
            </a:r>
          </a:p>
          <a:p>
            <a:pPr marL="635508" lvl="1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b="1" dirty="0"/>
              <a:t>Fifth Slide: </a:t>
            </a:r>
            <a:r>
              <a:rPr lang="en-US" sz="2400" dirty="0"/>
              <a:t>Social entrepreneurship (2 marks).</a:t>
            </a:r>
          </a:p>
          <a:p>
            <a:pPr marL="342900" marR="0" lvl="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/>
          </a:p>
          <a:p>
            <a:pPr marL="342900" marR="0" lvl="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FF0000"/>
                </a:solidFill>
              </a:rPr>
              <a:t>Submit the portfolio (all five slides) in one PDF document.</a:t>
            </a:r>
          </a:p>
          <a:p>
            <a:pPr marL="34290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FF0000"/>
                </a:solidFill>
              </a:rPr>
              <a:t>Include your group number and the names of students at the top of the first slide.</a:t>
            </a:r>
          </a:p>
          <a:p>
            <a:pPr marL="34290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FF0000"/>
                </a:solidFill>
              </a:rPr>
              <a:t>Create your own figures and images.</a:t>
            </a:r>
          </a:p>
          <a:p>
            <a:pPr marL="34290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solidFill>
                  <a:srgbClr val="FF0000"/>
                </a:solidFill>
              </a:rPr>
              <a:t>The most effective content is that which is developed in a debate style.</a:t>
            </a:r>
            <a:endParaRPr lang="en-US" sz="2400" dirty="0"/>
          </a:p>
          <a:p>
            <a:pPr marL="34290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solidFill>
                <a:srgbClr val="FF0000"/>
              </a:solidFill>
            </a:endParaRPr>
          </a:p>
          <a:p>
            <a:pPr marL="342900" marR="0" lvl="0" indent="-342900" algn="ju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7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E05F3-B0A1-A516-A212-53644EE6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4A84B2-CD2C-CFD0-AF1E-7E761F0FA739}"/>
              </a:ext>
            </a:extLst>
          </p:cNvPr>
          <p:cNvGraphicFramePr>
            <a:graphicFrameLocks noGrp="1"/>
          </p:cNvGraphicFramePr>
          <p:nvPr/>
        </p:nvGraphicFramePr>
        <p:xfrm>
          <a:off x="393405" y="209303"/>
          <a:ext cx="1146189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30548">
                  <a:extLst>
                    <a:ext uri="{9D8B030D-6E8A-4147-A177-3AD203B41FA5}">
                      <a16:colId xmlns:a16="http://schemas.microsoft.com/office/drawing/2014/main" val="886748567"/>
                    </a:ext>
                  </a:extLst>
                </a:gridCol>
                <a:gridCol w="3168503">
                  <a:extLst>
                    <a:ext uri="{9D8B030D-6E8A-4147-A177-3AD203B41FA5}">
                      <a16:colId xmlns:a16="http://schemas.microsoft.com/office/drawing/2014/main" val="2061708534"/>
                    </a:ext>
                  </a:extLst>
                </a:gridCol>
                <a:gridCol w="3083442">
                  <a:extLst>
                    <a:ext uri="{9D8B030D-6E8A-4147-A177-3AD203B41FA5}">
                      <a16:colId xmlns:a16="http://schemas.microsoft.com/office/drawing/2014/main" val="656908929"/>
                    </a:ext>
                  </a:extLst>
                </a:gridCol>
                <a:gridCol w="2679405">
                  <a:extLst>
                    <a:ext uri="{9D8B030D-6E8A-4147-A177-3AD203B41FA5}">
                      <a16:colId xmlns:a16="http://schemas.microsoft.com/office/drawing/2014/main" val="415264029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/>
                        <a:t>Case ?: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22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 Number: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74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8B35B0-4E76-059B-C88B-F9056667D169}"/>
              </a:ext>
            </a:extLst>
          </p:cNvPr>
          <p:cNvSpPr txBox="1"/>
          <p:nvPr/>
        </p:nvSpPr>
        <p:spPr>
          <a:xfrm>
            <a:off x="5847907" y="3232298"/>
            <a:ext cx="81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Poster</a:t>
            </a:r>
          </a:p>
        </p:txBody>
      </p:sp>
    </p:spTree>
    <p:extLst>
      <p:ext uri="{BB962C8B-B14F-4D97-AF65-F5344CB8AC3E}">
        <p14:creationId xmlns:p14="http://schemas.microsoft.com/office/powerpoint/2010/main" val="75810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01A7-657A-8B4A-D232-33B9D323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1BF1BD-A203-67E9-F424-1C6606D3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45075"/>
              </p:ext>
            </p:extLst>
          </p:nvPr>
        </p:nvGraphicFramePr>
        <p:xfrm>
          <a:off x="637953" y="262466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Second Slide: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C23BF0-A57E-637D-08E9-36F0DDD63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831530"/>
              </p:ext>
            </p:extLst>
          </p:nvPr>
        </p:nvGraphicFramePr>
        <p:xfrm>
          <a:off x="637953" y="6224694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25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A8D8-F901-B065-9E4E-6C87E303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AE4D48-304B-209B-6C71-7C3C684B3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889873"/>
              </p:ext>
            </p:extLst>
          </p:nvPr>
        </p:nvGraphicFramePr>
        <p:xfrm>
          <a:off x="637953" y="262466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Third Slide: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2D67ED-FD55-EE08-5EA5-0E368EBA4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93885"/>
              </p:ext>
            </p:extLst>
          </p:nvPr>
        </p:nvGraphicFramePr>
        <p:xfrm>
          <a:off x="637953" y="6224694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04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8525-B286-3E7A-A217-5992516E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1A7171-9DFB-E40E-2A4A-082F41C59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76249"/>
              </p:ext>
            </p:extLst>
          </p:nvPr>
        </p:nvGraphicFramePr>
        <p:xfrm>
          <a:off x="637953" y="262466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Fourth Slide: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8B6C9B-0464-FC49-09E3-7CCF4BAF7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93885"/>
              </p:ext>
            </p:extLst>
          </p:nvPr>
        </p:nvGraphicFramePr>
        <p:xfrm>
          <a:off x="637953" y="6224694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00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52B1-88F4-78F2-719B-3EFA2466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8604CE-8E5D-3C64-B4ED-54C9DCA36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91299"/>
              </p:ext>
            </p:extLst>
          </p:nvPr>
        </p:nvGraphicFramePr>
        <p:xfrm>
          <a:off x="637953" y="262466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Fifth Slide: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99CACC-E344-6126-2DE8-0F36BC745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93885"/>
              </p:ext>
            </p:extLst>
          </p:nvPr>
        </p:nvGraphicFramePr>
        <p:xfrm>
          <a:off x="637953" y="6224694"/>
          <a:ext cx="111535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3554">
                  <a:extLst>
                    <a:ext uri="{9D8B030D-6E8A-4147-A177-3AD203B41FA5}">
                      <a16:colId xmlns:a16="http://schemas.microsoft.com/office/drawing/2014/main" val="245173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8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58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241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PMingLiU</vt:lpstr>
      <vt:lpstr>Aptos</vt:lpstr>
      <vt:lpstr>Aptos Display</vt:lpstr>
      <vt:lpstr>Arial</vt:lpstr>
      <vt:lpstr>Calibri</vt:lpstr>
      <vt:lpstr>Symbol</vt:lpstr>
      <vt:lpstr>Office Theme</vt:lpstr>
      <vt:lpstr>Research Case 2 (10 marks) Ethical Entrepreneurship From Mindset to Practice The evaluation of this open-ended task is determined by how well the content meets values, usefulness, writing skills, and relevance for its intended audience or purpose (use size 18; IEEE citation). 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Riadh Habash</dc:creator>
  <cp:lastModifiedBy>Riadh Habash</cp:lastModifiedBy>
  <cp:revision>3</cp:revision>
  <dcterms:created xsi:type="dcterms:W3CDTF">2026-01-14T21:53:07Z</dcterms:created>
  <dcterms:modified xsi:type="dcterms:W3CDTF">2026-01-22T02:08:56Z</dcterms:modified>
</cp:coreProperties>
</file>