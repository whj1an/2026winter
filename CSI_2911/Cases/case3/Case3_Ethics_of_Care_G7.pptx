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>
        <p:scale>
          <a:sx n="248" d="100"/>
          <a:sy n="248" d="100"/>
        </p:scale>
        <p:origin x="89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8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3: </a:t>
            </a: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Ethics of Care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2286000" cy="402336"/>
          </a:xfrm>
          <a:prstGeom prst="rect">
            <a:avLst/>
          </a:prstGeom>
          <a:solidFill>
            <a:srgbClr val="D8D9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" y="5120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Number: G7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0" y="512064"/>
            <a:ext cx="2286000" cy="402336"/>
          </a:xfrm>
          <a:prstGeom prst="rect">
            <a:avLst/>
          </a:prstGeom>
          <a:solidFill>
            <a:srgbClr val="D8D9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359152" y="5120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Mehdi Semmar – 300372426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0" y="512064"/>
            <a:ext cx="2286000" cy="402336"/>
          </a:xfrm>
          <a:prstGeom prst="rect">
            <a:avLst/>
          </a:prstGeom>
          <a:solidFill>
            <a:srgbClr val="D8D9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645152" y="5120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Kevin Mo – 300426690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0" y="512064"/>
            <a:ext cx="2286000" cy="402336"/>
          </a:xfrm>
          <a:prstGeom prst="rect">
            <a:avLst/>
          </a:prstGeom>
          <a:solidFill>
            <a:srgbClr val="D8D9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931152" y="5120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Haojian Wang – 300411829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" y="10424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3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portfolio examining care ethics across engineering practice, relational obligations, moral judgment, and education.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1481328"/>
            <a:ext cx="2057400" cy="2852928"/>
          </a:xfrm>
          <a:prstGeom prst="rect">
            <a:avLst/>
          </a:prstGeom>
          <a:solidFill>
            <a:srgbClr val="1C2492"/>
          </a:solidFill>
          <a:ln w="19050">
            <a:solidFill>
              <a:srgbClr val="2D35C9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82880" y="1481328"/>
            <a:ext cx="2057400" cy="292608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82880" y="14813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" y="26106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74320" y="2016252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Care 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04872" y="1481328"/>
            <a:ext cx="2057400" cy="2852928"/>
          </a:xfrm>
          <a:prstGeom prst="rect">
            <a:avLst/>
          </a:prstGeom>
          <a:solidFill>
            <a:srgbClr val="1C2492"/>
          </a:solidFill>
          <a:ln w="19050">
            <a:solidFill>
              <a:srgbClr val="2D35C9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Shape 17"/>
          <p:cNvSpPr/>
          <p:nvPr/>
        </p:nvSpPr>
        <p:spPr>
          <a:xfrm>
            <a:off x="2404872" y="1481328"/>
            <a:ext cx="2057400" cy="292608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404872" y="14813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04872" y="18013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626864" y="1481328"/>
            <a:ext cx="2057400" cy="2852928"/>
          </a:xfrm>
          <a:prstGeom prst="rect">
            <a:avLst/>
          </a:prstGeom>
          <a:solidFill>
            <a:srgbClr val="1C2492"/>
          </a:solidFill>
          <a:ln w="19050">
            <a:solidFill>
              <a:srgbClr val="2D35C9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26864" y="1481328"/>
            <a:ext cx="2057400" cy="292608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626864" y="14813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26864" y="26106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18304" y="2022137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Moral Judgments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Care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42428" y="1527048"/>
            <a:ext cx="2057400" cy="2852928"/>
          </a:xfrm>
          <a:prstGeom prst="rect">
            <a:avLst/>
          </a:prstGeom>
          <a:solidFill>
            <a:srgbClr val="1C2492"/>
          </a:solidFill>
          <a:ln w="19050">
            <a:solidFill>
              <a:srgbClr val="2D35C9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848856" y="1481328"/>
            <a:ext cx="2057400" cy="292608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48856" y="14813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85432" y="26106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pic>
        <p:nvPicPr>
          <p:cNvPr id="37" name="图形 36" descr="3D 眼镜 纯色填充">
            <a:extLst>
              <a:ext uri="{FF2B5EF4-FFF2-40B4-BE49-F238E27FC236}">
                <a16:creationId xmlns:a16="http://schemas.microsoft.com/office/drawing/2014/main" id="{79DB6159-2D3A-29A6-DA57-59025E218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3851" y="2418647"/>
            <a:ext cx="914400" cy="914400"/>
          </a:xfrm>
          <a:prstGeom prst="rect">
            <a:avLst/>
          </a:prstGeom>
        </p:spPr>
      </p:pic>
      <p:sp>
        <p:nvSpPr>
          <p:cNvPr id="32" name="Text 30"/>
          <p:cNvSpPr/>
          <p:nvPr/>
        </p:nvSpPr>
        <p:spPr>
          <a:xfrm>
            <a:off x="6888148" y="205740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Education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Ethics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Practice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" y="437997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D3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"Care is not a soft ideal — it is the moral foundation of responsible technology and professional practice."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64592" y="4617720"/>
            <a:ext cx="8823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J. C. Tronto, Moral Boundaries. New York, NY: Routledge, 1993.   [2] N. Noddings, Caring, 2nd ed. Berkeley, CA: Univ. of California Press, 2013.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91740" y="2016252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Ethics: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Beyond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Humans</a:t>
            </a:r>
            <a:endParaRPr lang="en-US" sz="1300" dirty="0"/>
          </a:p>
        </p:txBody>
      </p:sp>
      <p:sp>
        <p:nvSpPr>
          <p:cNvPr id="40" name="图形 38" descr="插入点右移 纯色填充">
            <a:extLst>
              <a:ext uri="{FF2B5EF4-FFF2-40B4-BE49-F238E27FC236}">
                <a16:creationId xmlns:a16="http://schemas.microsoft.com/office/drawing/2014/main" id="{4E39102A-9B8D-A30E-D3C0-B40ED4709E17}"/>
              </a:ext>
            </a:extLst>
          </p:cNvPr>
          <p:cNvSpPr/>
          <p:nvPr/>
        </p:nvSpPr>
        <p:spPr>
          <a:xfrm>
            <a:off x="2091955" y="2642231"/>
            <a:ext cx="309505" cy="538229"/>
          </a:xfrm>
          <a:custGeom>
            <a:avLst/>
            <a:gdLst>
              <a:gd name="connsiteX0" fmla="*/ 40424 w 309505"/>
              <a:gd name="connsiteY0" fmla="*/ 538229 h 538229"/>
              <a:gd name="connsiteX1" fmla="*/ 10 w 309505"/>
              <a:gd name="connsiteY1" fmla="*/ 497824 h 538229"/>
              <a:gd name="connsiteX2" fmla="*/ 228686 w 309505"/>
              <a:gd name="connsiteY2" fmla="*/ 269148 h 538229"/>
              <a:gd name="connsiteX3" fmla="*/ 0 w 309505"/>
              <a:gd name="connsiteY3" fmla="*/ 40405 h 538229"/>
              <a:gd name="connsiteX4" fmla="*/ 40415 w 309505"/>
              <a:gd name="connsiteY4" fmla="*/ 0 h 538229"/>
              <a:gd name="connsiteX5" fmla="*/ 309505 w 309505"/>
              <a:gd name="connsiteY5" fmla="*/ 269148 h 538229"/>
              <a:gd name="connsiteX6" fmla="*/ 40424 w 309505"/>
              <a:gd name="connsiteY6" fmla="*/ 538229 h 53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505" h="538229">
                <a:moveTo>
                  <a:pt x="40424" y="538229"/>
                </a:moveTo>
                <a:lnTo>
                  <a:pt x="10" y="497824"/>
                </a:lnTo>
                <a:lnTo>
                  <a:pt x="228686" y="269148"/>
                </a:lnTo>
                <a:lnTo>
                  <a:pt x="0" y="40405"/>
                </a:lnTo>
                <a:lnTo>
                  <a:pt x="40415" y="0"/>
                </a:lnTo>
                <a:lnTo>
                  <a:pt x="309505" y="269148"/>
                </a:lnTo>
                <a:lnTo>
                  <a:pt x="40424" y="538229"/>
                </a:ln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1" name="图形 38" descr="插入点右移 纯色填充">
            <a:extLst>
              <a:ext uri="{FF2B5EF4-FFF2-40B4-BE49-F238E27FC236}">
                <a16:creationId xmlns:a16="http://schemas.microsoft.com/office/drawing/2014/main" id="{E14D7241-0C44-0E44-FEA6-0370D3F3818F}"/>
              </a:ext>
            </a:extLst>
          </p:cNvPr>
          <p:cNvSpPr/>
          <p:nvPr/>
        </p:nvSpPr>
        <p:spPr>
          <a:xfrm>
            <a:off x="6539351" y="2602102"/>
            <a:ext cx="309505" cy="538229"/>
          </a:xfrm>
          <a:custGeom>
            <a:avLst/>
            <a:gdLst>
              <a:gd name="connsiteX0" fmla="*/ 40424 w 309505"/>
              <a:gd name="connsiteY0" fmla="*/ 538229 h 538229"/>
              <a:gd name="connsiteX1" fmla="*/ 10 w 309505"/>
              <a:gd name="connsiteY1" fmla="*/ 497824 h 538229"/>
              <a:gd name="connsiteX2" fmla="*/ 228686 w 309505"/>
              <a:gd name="connsiteY2" fmla="*/ 269148 h 538229"/>
              <a:gd name="connsiteX3" fmla="*/ 0 w 309505"/>
              <a:gd name="connsiteY3" fmla="*/ 40405 h 538229"/>
              <a:gd name="connsiteX4" fmla="*/ 40415 w 309505"/>
              <a:gd name="connsiteY4" fmla="*/ 0 h 538229"/>
              <a:gd name="connsiteX5" fmla="*/ 309505 w 309505"/>
              <a:gd name="connsiteY5" fmla="*/ 269148 h 538229"/>
              <a:gd name="connsiteX6" fmla="*/ 40424 w 309505"/>
              <a:gd name="connsiteY6" fmla="*/ 538229 h 53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505" h="538229">
                <a:moveTo>
                  <a:pt x="40424" y="538229"/>
                </a:moveTo>
                <a:lnTo>
                  <a:pt x="10" y="497824"/>
                </a:lnTo>
                <a:lnTo>
                  <a:pt x="228686" y="269148"/>
                </a:lnTo>
                <a:lnTo>
                  <a:pt x="0" y="40405"/>
                </a:lnTo>
                <a:lnTo>
                  <a:pt x="40415" y="0"/>
                </a:lnTo>
                <a:lnTo>
                  <a:pt x="309505" y="269148"/>
                </a:lnTo>
                <a:lnTo>
                  <a:pt x="40424" y="538229"/>
                </a:ln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图形 38" descr="插入点右移 纯色填充">
            <a:extLst>
              <a:ext uri="{FF2B5EF4-FFF2-40B4-BE49-F238E27FC236}">
                <a16:creationId xmlns:a16="http://schemas.microsoft.com/office/drawing/2014/main" id="{5B07A436-DDCA-2F34-E024-A32269C7630E}"/>
              </a:ext>
            </a:extLst>
          </p:cNvPr>
          <p:cNvSpPr/>
          <p:nvPr/>
        </p:nvSpPr>
        <p:spPr>
          <a:xfrm>
            <a:off x="4317359" y="2629533"/>
            <a:ext cx="309505" cy="538229"/>
          </a:xfrm>
          <a:custGeom>
            <a:avLst/>
            <a:gdLst>
              <a:gd name="connsiteX0" fmla="*/ 40424 w 309505"/>
              <a:gd name="connsiteY0" fmla="*/ 538229 h 538229"/>
              <a:gd name="connsiteX1" fmla="*/ 10 w 309505"/>
              <a:gd name="connsiteY1" fmla="*/ 497824 h 538229"/>
              <a:gd name="connsiteX2" fmla="*/ 228686 w 309505"/>
              <a:gd name="connsiteY2" fmla="*/ 269148 h 538229"/>
              <a:gd name="connsiteX3" fmla="*/ 0 w 309505"/>
              <a:gd name="connsiteY3" fmla="*/ 40405 h 538229"/>
              <a:gd name="connsiteX4" fmla="*/ 40415 w 309505"/>
              <a:gd name="connsiteY4" fmla="*/ 0 h 538229"/>
              <a:gd name="connsiteX5" fmla="*/ 309505 w 309505"/>
              <a:gd name="connsiteY5" fmla="*/ 269148 h 538229"/>
              <a:gd name="connsiteX6" fmla="*/ 40424 w 309505"/>
              <a:gd name="connsiteY6" fmla="*/ 538229 h 53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505" h="538229">
                <a:moveTo>
                  <a:pt x="40424" y="538229"/>
                </a:moveTo>
                <a:lnTo>
                  <a:pt x="10" y="497824"/>
                </a:lnTo>
                <a:lnTo>
                  <a:pt x="228686" y="269148"/>
                </a:lnTo>
                <a:lnTo>
                  <a:pt x="0" y="40405"/>
                </a:lnTo>
                <a:lnTo>
                  <a:pt x="40415" y="0"/>
                </a:lnTo>
                <a:lnTo>
                  <a:pt x="309505" y="269148"/>
                </a:lnTo>
                <a:lnTo>
                  <a:pt x="40424" y="538229"/>
                </a:ln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Slide: </a:t>
            </a: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Care in Engineering and Computing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03504"/>
            <a:ext cx="8778240" cy="658368"/>
          </a:xfrm>
          <a:prstGeom prst="rect">
            <a:avLst/>
          </a:prstGeom>
          <a:solidFill>
            <a:srgbClr val="EEEEF9"/>
          </a:solidFill>
          <a:ln w="1524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92608" y="603504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Tronto [1] identifies four phases of care — attentiveness, responsibility, competence, and responsiveness — all directly applicable to software and systems engineering.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1A734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Care Is Central to Good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Tronto [1]: engineers who listen to users build safer, more equitable systems. Ignoring vulnerability is an ethical failure.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Inclusive design (accessibility, privacy-by-design) reflects genuine care for end users, not just compliance [1].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Caring engineers raise concerns early (e.g., AI bias), preventing harm before deployment [2].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B9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solidFill>
            <a:srgbClr val="B92D2D"/>
          </a:solidFill>
          <a:ln w="12700">
            <a:solidFill>
              <a:srgbClr val="B92D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Care Conflicts with Engineering Efficiency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Engineering culture prizes speed and scalability; care-centred approaches can increase cost and slow delivery [2].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Friedman [2]: ACM/IEEE codes already set ethical standards — an additional care framework risks role ambiguity.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Care judgments are subjective and particular; engineering needs reproducible, universal standards.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4133088"/>
            <a:ext cx="8778240" cy="347472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Good engineering IS an act of care. Technical excellence without human attentiveness is negligence with better tools.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4592" y="4617720"/>
            <a:ext cx="8823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J. C. Tronto, Moral Boundaries: A Political Argument for an Ethic of Care. New York, NY: Routledge, 1993.   [2] B. Friedman, "Value-Sensitive Design," Interactions, vol. 3, no. 6, pp. 16–23, 1996.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 Slide: </a:t>
            </a: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Ethics: Care Beyond Humans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03504"/>
            <a:ext cx="8778240" cy="658368"/>
          </a:xfrm>
          <a:prstGeom prst="rect">
            <a:avLst/>
          </a:prstGeom>
          <a:solidFill>
            <a:srgbClr val="E8F5E9"/>
          </a:solidFill>
          <a:ln w="1524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92608" y="603504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Traditional care ethics focused on human relationships. Relational ethics expands moral concern to animals, ecosystems, AI agents, and future generations.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1A734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Our Moral Circle Must Expand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Noddings [1]: care originates in relationships — our relationships now extend to living systems and non-human worlds.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Climate change shows human flourishing is inseparable from ecological health; caring for nature is relational self-preservation [1].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ethics increasingly recognises obligations to entities that respond to care — robots, ecosystems, digital systems [2].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B9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solidFill>
            <a:srgbClr val="B92D2D"/>
          </a:solidFill>
          <a:ln w="12700">
            <a:solidFill>
              <a:srgbClr val="B92D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Expanding Care Dilutes Its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Held [2]: care is grounded in concrete, emotional, particular relationships. Abstract extension to all life risks losing its relational core.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Unlimited moral expansion creates paralysis — if everything demands care, the concept becomes operationally meaningless [2].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Prioritizing non-human entities can divert attention from urgent human deficits: poverty, healthcare, labour exploitation.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4133088"/>
            <a:ext cx="8778240" cy="347472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Expanding care beyond humans is not dilution — it is maturation. A relational ethics that ignores ecosystems is incomplete by its own standards.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4592" y="4617720"/>
            <a:ext cx="8823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N. Noddings, Caring, 2nd ed. Berkeley, CA: University of California Press, 2013.   [2] V. Held, The Ethics of Care: Personal, Political, and Global. Oxford, UK: Oxford University Press, 2006.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Fourth Slide: </a:t>
            </a: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Moral Judgments About Care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03504"/>
            <a:ext cx="8778240" cy="658368"/>
          </a:xfrm>
          <a:prstGeom prst="rect">
            <a:avLst/>
          </a:prstGeom>
          <a:solidFill>
            <a:srgbClr val="EEEEF9"/>
          </a:solidFill>
          <a:ln w="1524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92608" y="603504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Gilligan [1] challenges Kohlberg [2] — arguing care-based reasoning is not a lower moral stage but a distinct, equally valid moral voice rooted in relationships and context.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1A734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Care Is a Valid Moral Framework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Gilligan [1]: women's relational moral reasoning is qualitatively different from — not inferior to — justice-based reasoning.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Care judgments integrate emotional intelligence and situational nuance that abstract rules miss, producing more humane outcomes [1].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 nursing, teaching, and social work, care-based judgment already drives best-practice professional standards [1].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B9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solidFill>
            <a:srgbClr val="B92D2D"/>
          </a:solidFill>
          <a:ln w="12700">
            <a:solidFill>
              <a:srgbClr val="B92D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Care Alone Is Insufficient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Kohlberg [2]: justice principles provide universal, scalable standards that particular care relationships cannot replicate.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Care may favour those close to us, introducing moral partiality and reinforcing racial, class, and gender inequities [2].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Systemic change — abolition, civil rights, gender equality — required principled universal frameworks, not care relationships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4133088"/>
            <a:ext cx="8778240" cy="347472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Care and justice are complementary, not competing. Moral maturity integrates relational attentiveness with principled fairness.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4592" y="4617720"/>
            <a:ext cx="8823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C. Gilligan, In a Different Voice. Cambridge, MA: Harvard University Press, 1982.   [2] L. Kohlberg, The Philosophy of Moral Development. San Francisco, CA: Harper &amp; Row, 1981.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Fifth Slide: </a:t>
            </a: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Education and Ethics of Care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03504"/>
            <a:ext cx="8778240" cy="658368"/>
          </a:xfrm>
          <a:prstGeom prst="rect">
            <a:avLst/>
          </a:prstGeom>
          <a:solidFill>
            <a:srgbClr val="FFF8E1"/>
          </a:solidFill>
          <a:ln w="15240">
            <a:solidFill>
              <a:srgbClr val="E8A1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92608" y="603504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Should care ethics be formally embedded in engineering and computing curricula? Can care be taught as a core professional competency?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1A734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Care Must Be Taught Systematically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Noddings [1]: caring classroom relations model the ethics students must later practise — education is itself a care practice.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Case studies, service learning, and ethics audits develop moral imagination: the ability to foresee impact on vulnerable users [2].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STEM graduates without care competencies build harmful systems. Education is the earliest and most cost-effective intervention [1].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35024"/>
            <a:ext cx="4206240" cy="2743200"/>
          </a:xfrm>
          <a:prstGeom prst="rect">
            <a:avLst/>
          </a:prstGeom>
          <a:solidFill>
            <a:srgbClr val="FFFFFF"/>
          </a:solidFill>
          <a:ln w="22860">
            <a:solidFill>
              <a:srgbClr val="B9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solidFill>
            <a:srgbClr val="B92D2D"/>
          </a:solidFill>
          <a:ln w="12700">
            <a:solidFill>
              <a:srgbClr val="B92D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Institutional Care Risks Becoming Performative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00784"/>
            <a:ext cx="398678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Tronto [2]: formalizing care risks reducing it to a checkbox — performative compliance rather than genuine moral formation.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Curricula are already overloaded; a one-credit ethics module may marginalize care as a 'soft skill' rather than integrate it [2].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Care is cultivated through mentorship and lived experience — formal instruction alone cannot produce the empathetic practitioner.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4133088"/>
            <a:ext cx="8778240" cy="347472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Education cannot manufacture care, but it can create conditions for it to flourish. Reflective practice bridges theory to genuine care.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35C9"/>
          </a:solidFill>
          <a:ln w="12700">
            <a:solidFill>
              <a:srgbClr val="2D35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4592" y="4617720"/>
            <a:ext cx="88239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N. Noddings, The Challenge to Care in Schools, 2nd ed. New York, NY: Teachers College Press, 2005.   [2] J. C. Tronto, Caring Democracy. New York, NY: NYU Press, 2013.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1163</Words>
  <Application>Microsoft Macintosh PowerPoint</Application>
  <PresentationFormat>全屏显示(16:9)</PresentationFormat>
  <Paragraphs>79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whj877274@outlook.com</cp:lastModifiedBy>
  <cp:revision>3</cp:revision>
  <dcterms:created xsi:type="dcterms:W3CDTF">2026-03-13T02:38:25Z</dcterms:created>
  <dcterms:modified xsi:type="dcterms:W3CDTF">2026-03-13T03:23:42Z</dcterms:modified>
</cp:coreProperties>
</file>